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</p:sldMasterIdLst>
  <p:notesMasterIdLst>
    <p:notesMasterId r:id="rId17"/>
  </p:notesMasterIdLst>
  <p:sldIdLst>
    <p:sldId id="317" r:id="rId5"/>
    <p:sldId id="365" r:id="rId6"/>
    <p:sldId id="261" r:id="rId7"/>
    <p:sldId id="366" r:id="rId8"/>
    <p:sldId id="367" r:id="rId9"/>
    <p:sldId id="369" r:id="rId10"/>
    <p:sldId id="371" r:id="rId11"/>
    <p:sldId id="372" r:id="rId12"/>
    <p:sldId id="373" r:id="rId13"/>
    <p:sldId id="370" r:id="rId14"/>
    <p:sldId id="368" r:id="rId15"/>
    <p:sldId id="28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昊" initials="陈昊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BD5D"/>
    <a:srgbClr val="F8F400"/>
    <a:srgbClr val="3982BF"/>
    <a:srgbClr val="3C82B9"/>
    <a:srgbClr val="DCE6FF"/>
    <a:srgbClr val="3982BE"/>
    <a:srgbClr val="C34813"/>
    <a:srgbClr val="D5F4FA"/>
    <a:srgbClr val="F6FAFE"/>
    <a:srgbClr val="F6F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78" autoAdjust="0"/>
  </p:normalViewPr>
  <p:slideViewPr>
    <p:cSldViewPr snapToGrid="0">
      <p:cViewPr varScale="1">
        <p:scale>
          <a:sx n="71" d="100"/>
          <a:sy n="71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54856-CF3A-4C0D-BE6A-42F3AE2FC7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1EA6A-1B79-4DEC-84FB-8FD59F2833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213387"/>
            <a:ext cx="1805651" cy="5717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78691" y="1229013"/>
            <a:ext cx="11434617" cy="4562475"/>
          </a:xfrm>
          <a:prstGeom prst="rect">
            <a:avLst/>
          </a:prstGeom>
          <a:solidFill>
            <a:schemeClr val="bg1">
              <a:alpha val="90000"/>
            </a:schemeClr>
          </a:solid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 userDrawn="1"/>
        </p:nvCxnSpPr>
        <p:spPr>
          <a:xfrm>
            <a:off x="0" y="960579"/>
            <a:ext cx="12204000" cy="0"/>
          </a:xfrm>
          <a:prstGeom prst="line">
            <a:avLst/>
          </a:prstGeom>
          <a:ln w="6350">
            <a:solidFill>
              <a:srgbClr val="C7BD5D"/>
            </a:solidFill>
          </a:ln>
          <a:effectLst>
            <a:outerShdw blurRad="25400" dir="2400000" algn="tl" rotWithShape="0">
              <a:srgbClr val="C7BD5D"/>
            </a:outerShdw>
          </a:effec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213387"/>
            <a:ext cx="1805651" cy="57170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8262337" y="323422"/>
            <a:ext cx="355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有志</a:t>
            </a:r>
            <a:r>
              <a:rPr lang="en-US" altLang="zh-CN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</a:t>
            </a:r>
            <a:r>
              <a:rPr lang="zh-CN" altLang="en-US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有识 </a:t>
            </a:r>
            <a:r>
              <a:rPr lang="en-US" altLang="zh-CN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zh-CN" altLang="en-US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有恒    有为</a:t>
            </a:r>
            <a:endParaRPr lang="zh-CN" altLang="en-US" sz="2400" b="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 userDrawn="1"/>
        </p:nvCxnSpPr>
        <p:spPr>
          <a:xfrm>
            <a:off x="0" y="960579"/>
            <a:ext cx="12204000" cy="0"/>
          </a:xfrm>
          <a:prstGeom prst="line">
            <a:avLst/>
          </a:prstGeom>
          <a:ln w="6350">
            <a:solidFill>
              <a:srgbClr val="C7BD5D"/>
            </a:solidFill>
          </a:ln>
          <a:effectLst>
            <a:outerShdw blurRad="25400" dir="2400000" algn="tl" rotWithShape="0">
              <a:srgbClr val="C7BD5D"/>
            </a:outerShdw>
          </a:effec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213387"/>
            <a:ext cx="1805651" cy="57170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8262337" y="323422"/>
            <a:ext cx="355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有志</a:t>
            </a:r>
            <a:r>
              <a:rPr lang="en-US" altLang="zh-CN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</a:t>
            </a:r>
            <a:r>
              <a:rPr lang="zh-CN" altLang="en-US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有识 </a:t>
            </a:r>
            <a:r>
              <a:rPr lang="en-US" altLang="zh-CN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zh-CN" altLang="en-US" sz="24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有恒    有为</a:t>
            </a:r>
            <a:endParaRPr lang="zh-CN" altLang="en-US" sz="2400" b="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378691" y="1126834"/>
            <a:ext cx="45719" cy="480287"/>
          </a:xfrm>
          <a:prstGeom prst="rect">
            <a:avLst/>
          </a:prstGeom>
          <a:solidFill>
            <a:srgbClr val="3C82B9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213387"/>
            <a:ext cx="1805651" cy="5717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78691" y="1229013"/>
            <a:ext cx="11434617" cy="4562475"/>
          </a:xfrm>
          <a:prstGeom prst="rect">
            <a:avLst/>
          </a:prstGeom>
          <a:solidFill>
            <a:schemeClr val="bg1">
              <a:alpha val="90000"/>
            </a:schemeClr>
          </a:solid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153" y="74844"/>
            <a:ext cx="1590467" cy="5035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1E694-EF9E-42AA-943D-E44B145D4A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399D3-75E6-45A7-B610-64566609C3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60B91-6A8F-42F9-9358-250257BF9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47CFA-23E1-4D82-9322-17702C36B0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DC1FC-BE09-4CFB-8AF4-E0999073CC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F5D2A-0580-4C0D-9EF8-85E897A36C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613490" y="3167936"/>
            <a:ext cx="11340935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2800" b="1">
                <a:latin typeface="微软雅黑" panose="020B0503020204020204" pitchFamily="34" charset="-122"/>
                <a:sym typeface="+mn-ea"/>
              </a:rPr>
              <a:t>基于多尺度两阶段检索增强的时间序列预测方法</a:t>
            </a:r>
            <a:endParaRPr lang="en-US" altLang="zh-CN" sz="2800" b="1" dirty="0">
              <a:latin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5060048" y="4550063"/>
            <a:ext cx="2071900" cy="7372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400" b="1" dirty="0">
                <a:latin typeface="微软雅黑" panose="020B0503020204020204" pitchFamily="34" charset="-122"/>
                <a:sym typeface="Calibri" panose="020F0502020204030204" pitchFamily="34" charset="0"/>
              </a:rPr>
              <a:t>演讲人：张权贵</a:t>
            </a:r>
            <a:endParaRPr lang="en-US" altLang="zh-CN" sz="1400" b="1" dirty="0">
              <a:latin typeface="微软雅黑" panose="020B0503020204020204" pitchFamily="34" charset="-122"/>
              <a:sym typeface="Calibri" panose="020F0502020204030204" pitchFamily="34" charset="0"/>
            </a:endParaRP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endParaRPr lang="en-US" altLang="zh-CN" sz="1400" b="1" dirty="0">
              <a:latin typeface="微软雅黑" panose="020B0503020204020204" pitchFamily="34" charset="-122"/>
              <a:sym typeface="Calibri" panose="020F0502020204030204" pitchFamily="34" charset="0"/>
            </a:endParaRP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en-US" altLang="zh-CN" sz="1400" b="1" dirty="0">
                <a:latin typeface="微软雅黑" panose="020B0503020204020204" pitchFamily="34" charset="-122"/>
                <a:sym typeface="Calibri" panose="020F0502020204030204" pitchFamily="34" charset="0"/>
              </a:rPr>
              <a:t>2025.12. 31</a:t>
            </a:r>
            <a:endParaRPr lang="en-US" altLang="zh-CN" sz="1400" b="1" dirty="0">
              <a:latin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56571" y="640896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Noto Sans" panose="020B0502040204020203" pitchFamily="34" charset="0"/>
              </a:rPr>
              <a:t>主要内容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6091" y="2307475"/>
            <a:ext cx="11379818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任务描述</a:t>
            </a: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选题背景与意义</a:t>
            </a:r>
            <a:endParaRPr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研究内容</a:t>
            </a:r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论文工作总体安排</a:t>
            </a:r>
            <a:endParaRPr lang="en-US" altLang="zh-CN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56571" y="6408965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6048" y="1129094"/>
            <a:ext cx="99477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j-ea"/>
                <a:ea typeface="+mj-ea"/>
              </a:rPr>
              <a:t>1. </a:t>
            </a:r>
            <a:r>
              <a:rPr lang="zh-CN" altLang="en-US" sz="2800" b="1" dirty="0">
                <a:latin typeface="+mj-ea"/>
                <a:ea typeface="+mj-ea"/>
              </a:rPr>
              <a:t>多变量时间序列预测任务介绍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651" y="1717457"/>
            <a:ext cx="1183269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任务描述：时间序列预测是指根据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历史时间点</a:t>
            </a:r>
            <a:r>
              <a:rPr lang="zh-CN" altLang="en-US" sz="2400" b="1" dirty="0">
                <a:latin typeface="+mn-ea"/>
              </a:rPr>
              <a:t>的数据，预测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未来</a:t>
            </a:r>
            <a:r>
              <a:rPr lang="zh-CN" altLang="en-US" sz="2400" b="1" dirty="0">
                <a:latin typeface="+mn-ea"/>
              </a:rPr>
              <a:t>某一特定时间点的数据值。</a:t>
            </a:r>
            <a:endParaRPr lang="en-US" altLang="zh-CN" sz="2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示例：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ea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ea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ea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ea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+mn-ea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+mj-lt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910" y="3073228"/>
            <a:ext cx="8620685" cy="188362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58570" y="4778285"/>
            <a:ext cx="20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L</a:t>
            </a:r>
            <a:r>
              <a:rPr lang="zh-CN" altLang="en-US" dirty="0">
                <a:latin typeface="+mj-ea"/>
                <a:ea typeface="+mj-ea"/>
              </a:rPr>
              <a:t>：历史窗口大小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92397" y="4778285"/>
            <a:ext cx="20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F</a:t>
            </a:r>
            <a:r>
              <a:rPr lang="zh-CN" altLang="en-US" dirty="0">
                <a:latin typeface="+mj-ea"/>
                <a:ea typeface="+mj-ea"/>
              </a:rPr>
              <a:t>：预测窗口大小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756571" y="6408965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zh-CN" altLang="en-US" sz="2800" b="1" dirty="0">
                <a:latin typeface="Noto Sans" panose="020B0502040204020203" pitchFamily="34" charset="0"/>
              </a:rPr>
              <a:t>选题背景与意义</a:t>
            </a:r>
            <a:endParaRPr lang="zh-CN" altLang="en-US" sz="2800" b="1" dirty="0">
              <a:latin typeface="Noto Sans" panose="020B0502040204020203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56571" y="6408965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304313" y="1659789"/>
            <a:ext cx="11527072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2.1.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时间序列预测的重要性与应用场景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预测是许多领域的基础任务，例如：能源管理（电力负荷预测、可再生能源发电预测）、交通规划（车流量、出行需求预测）、金融经济（股价、汇率、宏观经济指标预测）、气象与环境（温度、降水、空气质量预测）、工业制造（设备故障预警、生产调度优化）。准确的时间序列预测能够帮助决策者提前制定策略、降低风险、提高资源利用效率。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2.2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应用价值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可直接应用于能源、交通、金融、气象等对预测精度和实时性要求高的行业，帮助实现更智能的资源调度、风险管理与决策支持。为未来结合大语言模型（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LLM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）或知识库的时间序列预测系统奠定基础，例如利用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LLM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检索相关文本知识辅助数值预测。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 </a:t>
            </a:r>
            <a:r>
              <a:rPr lang="zh-CN" altLang="en-US" sz="2800" b="1" dirty="0">
                <a:latin typeface="Noto Sans" panose="020B0502040204020203" pitchFamily="34" charset="0"/>
                <a:sym typeface="+mn-ea"/>
              </a:rPr>
              <a:t>选题背景与意义</a:t>
            </a:r>
            <a:endParaRPr lang="zh-CN" altLang="en-US" sz="2800" b="1" dirty="0">
              <a:latin typeface="Noto Sans" panose="020B0502040204020203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2464" y="1583894"/>
            <a:ext cx="11527072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2.3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现有方法的进展与局限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近年来，深度学习尤其是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Transformer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架构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在时间序列预测领域取得了显著进展，代表性工作包括：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Autoformer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Informer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Fedformer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PatchTST​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等：利用自注意力机制捕捉长程依赖，但在处理复杂模式（如多尺度周期、突变事件）时仍存在不足。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DLinear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：轻量高效，但对非线性关系和复杂模式的建模能力有限。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MICN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TimesNet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TimeMixer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：分别通过卷积、频域分解、多周期性混合等方式提升性能，但在动态上下文感知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与跨序列知识迁移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方面仍有提升空间。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2.4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研究动机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现有方法大多仅依赖输入序列本身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进行建模，较少主动引入外部相关知识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或历史相似模式。人类在做预测时，常会检索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过去类似情境的经验（例如参考历史上相似天气下的用电模式），这种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检索增强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思维未被充分用于时间序列预测模型。因此，本研究试图将检索机制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引入时间序列预测，通过动态查找并利用历史相似片段或外部知识，提升模型对复杂模式的捕捉能力与泛化性能。</a:t>
            </a:r>
            <a:endParaRPr lang="en-US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56571" y="6408965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800" b="1" dirty="0">
              <a:latin typeface="Noto Sans" panose="020B0502040204020203" pitchFamily="34" charset="0"/>
            </a:endParaRPr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0" y="1704340"/>
            <a:ext cx="9330690" cy="3294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32435" y="4998720"/>
            <a:ext cx="10520680" cy="1722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本研究提出了一种多尺度两阶段检索模块来增强时间序列预测。该模块采用由粗粒度到细粒度的两阶段检索策略：在粗粒度检索阶段，对整段时间序列进行匹配，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采用皮尔逊相关系数作为度量指标，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以捕捉整体趋势上的相似性，从而保证检索结果在宏观走势上的一致性；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763556" y="6408965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800" b="1" dirty="0">
              <a:latin typeface="Noto Sans" panose="020B0502040204020203" pitchFamily="34" charset="0"/>
            </a:endParaRPr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0" y="1704340"/>
            <a:ext cx="9330690" cy="3294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32435" y="4998720"/>
            <a:ext cx="10852785" cy="1543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在多尺度细粒度检索阶段，进一步将序列划分为若干块，对局部片段进行精细匹配，以补充粗粒度检索中可能忽略的细节差异。在这一阶段，我们引入均值差与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KL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散度的加权相似度作为度量指标，用于刻画候选序列与输入序列在振幅水平和分布形态上的差异。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56390" y="6409055"/>
            <a:ext cx="306705" cy="3835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dirty="0"/>
              <a:t>7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研究内容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800" b="1" dirty="0">
              <a:latin typeface="Noto Sans" panose="020B0502040204020203" pitchFamily="34" charset="0"/>
            </a:endParaRPr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0" y="1704340"/>
            <a:ext cx="9330690" cy="3294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32435" y="4998720"/>
            <a:ext cx="10852785" cy="1996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然后通过由深度卷积和点卷积组成的多尺度融合模块，最后将目标序列与历史输入序列拼接后通过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MLP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进行预测。这种从粗到细的双重检索机制，模型能够在保持宏观趋势对齐的同时，更充分地捕捉微观动态特征，从而有效提升复杂时间序列的预测性能与鲁棒性。</a:t>
            </a:r>
            <a:endParaRPr lang="zh-CN" altLang="en-US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56571" y="6408965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实验结果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800" b="1" dirty="0">
              <a:latin typeface="Noto Sans" panose="020B0502040204020203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56571" y="6408965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815" y="2044065"/>
            <a:ext cx="8363585" cy="3423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57530" y="111029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algn="l" defTabSz="9144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本研究的特色与创新点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1960" y="2107565"/>
            <a:ext cx="8458200" cy="18865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latin typeface="+mn-ea"/>
                <a:cs typeface="+mn-ea"/>
              </a:rPr>
              <a:t>1. </a:t>
            </a:r>
            <a:r>
              <a:rPr lang="zh-CN" altLang="en-US" sz="2000">
                <a:latin typeface="+mn-ea"/>
                <a:cs typeface="+mn-ea"/>
              </a:rPr>
              <a:t>提出多尺度两阶段检索增强的时间序列预测方法</a:t>
            </a:r>
            <a:r>
              <a:rPr lang="en-US" altLang="zh-CN" sz="2000">
                <a:latin typeface="+mn-ea"/>
                <a:cs typeface="+mn-ea"/>
              </a:rPr>
              <a:t>——DRAFT</a:t>
            </a:r>
            <a:r>
              <a:rPr lang="zh-CN" altLang="en-US" sz="2000">
                <a:latin typeface="+mn-ea"/>
                <a:cs typeface="+mn-ea"/>
              </a:rPr>
              <a:t>，粗粒度以皮尔逊系数匹配整段序列保宏观趋势，细粒度分块精细匹配补细节，解决全局检索掩盖局部互补信息的问题，提升检索鲁棒性。</a:t>
            </a:r>
            <a:endParaRPr lang="zh-CN" altLang="en-US" sz="2000">
              <a:latin typeface="+mn-ea"/>
              <a:cs typeface="+mn-ea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+mn-ea"/>
              <a:cs typeface="+mn-ea"/>
            </a:endParaRPr>
          </a:p>
          <a:p>
            <a:pPr marL="0" indent="3048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latin typeface="+mn-ea"/>
                <a:cs typeface="+mn-ea"/>
              </a:rPr>
              <a:t>2. </a:t>
            </a:r>
            <a:r>
              <a:rPr lang="zh-CN" altLang="en-US" sz="2000">
                <a:latin typeface="+mn-ea"/>
                <a:cs typeface="+mn-ea"/>
              </a:rPr>
              <a:t>引入均值差与</a:t>
            </a:r>
            <a:r>
              <a:rPr lang="en-US" altLang="zh-CN" sz="2000">
                <a:latin typeface="+mn-ea"/>
                <a:cs typeface="+mn-ea"/>
              </a:rPr>
              <a:t> KL </a:t>
            </a:r>
            <a:r>
              <a:rPr lang="zh-CN" altLang="en-US" sz="2000">
                <a:latin typeface="+mn-ea"/>
                <a:cs typeface="+mn-ea"/>
              </a:rPr>
              <a:t>散度的加权相似度，刻画序列振幅水平与分布形态差异，弥补皮尔逊系数忽略非线性及细粒度特征的局限，提升时序预测性能。</a:t>
            </a:r>
            <a:endParaRPr lang="zh-CN" altLang="en-US" sz="2000"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56571" y="6408965"/>
            <a:ext cx="411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9435" y="1136442"/>
            <a:ext cx="5335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zh-CN" altLang="en-US" sz="2800" b="1" dirty="0">
                <a:latin typeface="Noto Sans" panose="020B0502040204020203" pitchFamily="34" charset="0"/>
              </a:rPr>
              <a:t>论文工作进度安排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9315" y="1804101"/>
            <a:ext cx="108133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1-4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周：查阅相关文献，明确研究难点，确定技术路线，撰写开题报告。</a:t>
            </a:r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5-8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周：搭建实验环境，初略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设计模型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，复现主流基线模型。</a:t>
            </a:r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9-20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周：完成预测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模型方案设计，完成模型框架的代码实现。</a:t>
            </a:r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21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-24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周：验证模型性能，进行模型调试和优化，撰写论文初稿。</a:t>
            </a:r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25-28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周：进行消融实验和对比实验，整理实验结果。</a:t>
            </a:r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29-36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周：在老师们的指导下，修改完善论文图表表述，补充实验部分并完成</a:t>
            </a:r>
            <a:r>
              <a:rPr lang="zh-CN" altLang="en-US" sz="2400" dirty="0">
                <a:latin typeface="Noto Sans" panose="020B0502040204020203" pitchFamily="34" charset="0"/>
                <a:sym typeface="+mn-ea"/>
              </a:rPr>
              <a:t>论文写作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56571" y="6408965"/>
            <a:ext cx="402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25532" y="3013501"/>
            <a:ext cx="11340935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4800" b="1" dirty="0">
                <a:latin typeface="微软雅黑" panose="020B0503020204020204" pitchFamily="34" charset="-122"/>
                <a:sym typeface="Calibri" panose="020F0502020204030204" pitchFamily="34" charset="0"/>
              </a:rPr>
              <a:t>谢谢大家！</a:t>
            </a:r>
            <a:endParaRPr lang="en-US" altLang="zh-CN" sz="4800" b="1" dirty="0">
              <a:latin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56571" y="6408965"/>
            <a:ext cx="411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85B84C21876257409FD9F31356F205F7" ma:contentTypeVersion="1" ma:contentTypeDescription="新建文档。" ma:contentTypeScope="" ma:versionID="9b72a986e044954e657d8ca3c491e7f0">
  <xsd:schema xmlns:xsd="http://www.w3.org/2001/XMLSchema" xmlns:xs="http://www.w3.org/2001/XMLSchema" xmlns:p="http://schemas.microsoft.com/office/2006/metadata/properties" xmlns:ns3="b7d97ae7-a988-4ea3-9a19-f1478b442869" targetNamespace="http://schemas.microsoft.com/office/2006/metadata/properties" ma:root="true" ma:fieldsID="0014e87ef09579e221cc5869f4f46141" ns3:_="">
    <xsd:import namespace="b7d97ae7-a988-4ea3-9a19-f1478b442869"/>
    <xsd:element name="properties">
      <xsd:complexType>
        <xsd:sequence>
          <xsd:element name="documentManagement">
            <xsd:complexType>
              <xsd:all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97ae7-a988-4ea3-9a19-f1478b442869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d97ae7-a988-4ea3-9a19-f1478b442869" xsi:nil="true"/>
  </documentManagement>
</p:properties>
</file>

<file path=customXml/itemProps1.xml><?xml version="1.0" encoding="utf-8"?>
<ds:datastoreItem xmlns:ds="http://schemas.openxmlformats.org/officeDocument/2006/customXml" ds:itemID="{E3D5BD35-00E0-40D0-ADCD-E1708BF9BA17}">
  <ds:schemaRefs/>
</ds:datastoreItem>
</file>

<file path=customXml/itemProps2.xml><?xml version="1.0" encoding="utf-8"?>
<ds:datastoreItem xmlns:ds="http://schemas.openxmlformats.org/officeDocument/2006/customXml" ds:itemID="{9191F97A-3A49-4258-B1B3-5BE8AC01909C}">
  <ds:schemaRefs/>
</ds:datastoreItem>
</file>

<file path=customXml/itemProps3.xml><?xml version="1.0" encoding="utf-8"?>
<ds:datastoreItem xmlns:ds="http://schemas.openxmlformats.org/officeDocument/2006/customXml" ds:itemID="{DEF92F71-E3E4-426F-A19D-7D997B36AFB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1691</Words>
  <Application>WPS 演示</Application>
  <PresentationFormat>宽屏</PresentationFormat>
  <Paragraphs>106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华文行楷</vt:lpstr>
      <vt:lpstr>微软雅黑</vt:lpstr>
      <vt:lpstr>Calibri</vt:lpstr>
      <vt:lpstr>Noto Sans</vt:lpstr>
      <vt:lpstr>Noto Sans SC</vt:lpstr>
      <vt:lpstr>Times New Roman</vt:lpstr>
      <vt:lpstr>新宋体</vt:lpstr>
      <vt:lpstr>Arial Unicode MS</vt:lpstr>
      <vt:lpstr>等线</vt:lpstr>
      <vt:lpstr>Office 主题​​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曽招干</dc:creator>
  <cp:lastModifiedBy>尔耳.</cp:lastModifiedBy>
  <cp:revision>354</cp:revision>
  <dcterms:created xsi:type="dcterms:W3CDTF">2023-10-15T02:02:00Z</dcterms:created>
  <dcterms:modified xsi:type="dcterms:W3CDTF">2025-12-31T07:23:06Z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0x01010085B84C21876257409FD9F31356F205F7</vt:lpwstr>
  </property>
  <property fmtid="{D5CDD505-2E9C-101B-9397-08002B2CF9AE}" pid="3" name="ICV">
    <vt:lpwstr>69BD26D67A204A90BF87086E4934728E_12</vt:lpwstr>
  </property>
  <property fmtid="{D5CDD505-2E9C-101B-9397-08002B2CF9AE}" pid="4" name="KSOProductBuildVer">
    <vt:lpwstr>2052-12.1.0.23542</vt:lpwstr>
  </property>
</Properties>
</file>